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" y="914400"/>
            <a:ext cx="2011680" cy="1463040"/>
          </a:xfrm>
          <a:prstGeom prst="ellipse">
            <a:avLst/>
          </a:prstGeom>
          <a:solidFill>
            <a:srgbClr val="2E86C1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77440" y="1188720"/>
            <a:ext cx="1463040" cy="1097280"/>
          </a:xfrm>
          <a:prstGeom prst="ellipse">
            <a:avLst/>
          </a:prstGeom>
          <a:solidFill>
            <a:srgbClr val="2E86C1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737360"/>
            <a:ext cx="2743200" cy="640080"/>
          </a:xfrm>
          <a:prstGeom prst="rect">
            <a:avLst/>
          </a:prstGeom>
          <a:solidFill>
            <a:srgbClr val="2E86C1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0" y="9144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AWS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114800" y="16916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Project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114800" y="2606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Step-by-Step Guide for Data Scientists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4636008"/>
            <a:ext cx="1371600" cy="320040"/>
          </a:xfrm>
          <a:prstGeom prst="roundRect">
            <a:avLst>
              <a:gd name="adj" fmla="val 14286"/>
            </a:avLst>
          </a:prstGeom>
          <a:solidFill>
            <a:srgbClr val="2E86C1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46360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Kinesis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03120" y="4636008"/>
            <a:ext cx="1371600" cy="320040"/>
          </a:xfrm>
          <a:prstGeom prst="roundRect">
            <a:avLst>
              <a:gd name="adj" fmla="val 14286"/>
            </a:avLst>
          </a:prstGeom>
          <a:solidFill>
            <a:srgbClr val="2E86C1"/>
          </a:solidFill>
          <a:ln/>
        </p:spPr>
      </p:sp>
      <p:sp>
        <p:nvSpPr>
          <p:cNvPr id="13" name="Text 11"/>
          <p:cNvSpPr/>
          <p:nvPr/>
        </p:nvSpPr>
        <p:spPr>
          <a:xfrm>
            <a:off x="2103120" y="46360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Lambda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40480" y="4636008"/>
            <a:ext cx="1371600" cy="320040"/>
          </a:xfrm>
          <a:prstGeom prst="roundRect">
            <a:avLst>
              <a:gd name="adj" fmla="val 14286"/>
            </a:avLst>
          </a:prstGeom>
          <a:solidFill>
            <a:srgbClr val="2E86C1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0" y="46360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77840" y="4636008"/>
            <a:ext cx="1371600" cy="320040"/>
          </a:xfrm>
          <a:prstGeom prst="roundRect">
            <a:avLst>
              <a:gd name="adj" fmla="val 14286"/>
            </a:avLst>
          </a:prstGeom>
          <a:solidFill>
            <a:srgbClr val="2E86C1"/>
          </a:solidFill>
          <a:ln/>
        </p:spPr>
      </p:sp>
      <p:sp>
        <p:nvSpPr>
          <p:cNvPr id="17" name="Text 15"/>
          <p:cNvSpPr/>
          <p:nvPr/>
        </p:nvSpPr>
        <p:spPr>
          <a:xfrm>
            <a:off x="5577840" y="46360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Athena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0" y="4636008"/>
            <a:ext cx="1371600" cy="320040"/>
          </a:xfrm>
          <a:prstGeom prst="roundRect">
            <a:avLst>
              <a:gd name="adj" fmla="val 14286"/>
            </a:avLst>
          </a:prstGeom>
          <a:solidFill>
            <a:srgbClr val="2E86C1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0" y="46360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Python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We Building?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8412480" cy="914400"/>
          </a:xfrm>
          <a:prstGeom prst="rect">
            <a:avLst/>
          </a:prstGeom>
          <a:solidFill>
            <a:srgbClr val="D6EAF8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144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cloud-based system that: continuously receives stock price data → detects unusual spikes automatically → stores everything in the cloud → lets you query it with SQL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920240"/>
            <a:ext cx="1325880" cy="1005840"/>
          </a:xfrm>
          <a:prstGeom prst="rect">
            <a:avLst/>
          </a:prstGeom>
          <a:solidFill>
            <a:srgbClr val="148F7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965960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2633472"/>
            <a:ext cx="1325880" cy="292608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263347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Python Script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82496" y="2423160"/>
            <a:ext cx="347472" cy="0"/>
          </a:xfrm>
          <a:prstGeom prst="line">
            <a:avLst/>
          </a:prstGeom>
          <a:noFill/>
          <a:ln w="25400">
            <a:solidFill>
              <a:srgbClr val="717D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01952" y="22860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D7E"/>
                </a:solidFill>
              </a:rPr>
              <a:t>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57400" y="1920240"/>
            <a:ext cx="1325880" cy="1005840"/>
          </a:xfrm>
          <a:prstGeom prst="rect">
            <a:avLst/>
          </a:prstGeom>
          <a:solidFill>
            <a:srgbClr val="2E86C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057400" y="1965960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Kinesis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057400" y="2633472"/>
            <a:ext cx="1325880" cy="292608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057400" y="263347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Data Highway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19856" y="2423160"/>
            <a:ext cx="347472" cy="0"/>
          </a:xfrm>
          <a:prstGeom prst="line">
            <a:avLst/>
          </a:prstGeom>
          <a:noFill/>
          <a:ln w="25400">
            <a:solidFill>
              <a:srgbClr val="717D7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9312" y="22860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D7E"/>
                </a:solidFill>
              </a:rPr>
              <a:t>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94760" y="1920240"/>
            <a:ext cx="1325880" cy="1005840"/>
          </a:xfrm>
          <a:prstGeom prst="rect">
            <a:avLst/>
          </a:prstGeom>
          <a:solidFill>
            <a:srgbClr val="E67E2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794760" y="1965960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794760" y="2633472"/>
            <a:ext cx="1325880" cy="292608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794760" y="263347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Smart Worker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157216" y="2423160"/>
            <a:ext cx="347472" cy="0"/>
          </a:xfrm>
          <a:prstGeom prst="line">
            <a:avLst/>
          </a:prstGeom>
          <a:noFill/>
          <a:ln w="25400">
            <a:solidFill>
              <a:srgbClr val="717D7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76672" y="22860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D7E"/>
                </a:solidFill>
              </a:rPr>
              <a:t>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532120" y="1920240"/>
            <a:ext cx="1325880" cy="1005840"/>
          </a:xfrm>
          <a:prstGeom prst="rect">
            <a:avLst/>
          </a:prstGeom>
          <a:solidFill>
            <a:srgbClr val="6C348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532120" y="1965960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532120" y="2633472"/>
            <a:ext cx="1325880" cy="292608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532120" y="263347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Data Storage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94576" y="2423160"/>
            <a:ext cx="347472" cy="0"/>
          </a:xfrm>
          <a:prstGeom prst="line">
            <a:avLst/>
          </a:prstGeom>
          <a:noFill/>
          <a:ln w="25400">
            <a:solidFill>
              <a:srgbClr val="717D7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14032" y="22860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D7E"/>
                </a:solidFill>
              </a:rPr>
              <a:t>▶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269480" y="1920240"/>
            <a:ext cx="1325880" cy="1005840"/>
          </a:xfrm>
          <a:prstGeom prst="rect">
            <a:avLst/>
          </a:prstGeom>
          <a:solidFill>
            <a:srgbClr val="1E844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269480" y="1965960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269480" y="2633472"/>
            <a:ext cx="1325880" cy="292608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269480" y="263347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Query Engine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3063240"/>
            <a:ext cx="4023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02920" y="309067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🎯  Resume project showing end-to-end data engineering skills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617720" y="3063240"/>
            <a:ext cx="4023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754880" y="309067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📈  Mimics real systems used at companies like Uber, Netflix, Zomato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65760" y="3566160"/>
            <a:ext cx="4023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02920" y="359359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💰  Costs ~₹0–150 total using AWS Free Tier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617720" y="3566160"/>
            <a:ext cx="4023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754880" y="359359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⏱️  Can be built in 2 days by a beginner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Cloud Computing? (AWS)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8412480" cy="777240"/>
          </a:xfrm>
          <a:prstGeom prst="rect">
            <a:avLst/>
          </a:prstGeom>
          <a:solidFill>
            <a:srgbClr val="FEF9E7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896112"/>
            <a:ext cx="8046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Simple Analogy:  Instead of buying a generator for electricity, you just plug into the power grid and pay for what you use. AWS is the same — instead of buying servers, you rent computing power on demand.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737360"/>
            <a:ext cx="2651760" cy="38404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7373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🖥️  Traditional IT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2121408"/>
            <a:ext cx="265176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" y="217627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expensive servers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29768" y="257860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weeks to set up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29768" y="2980944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whether you use it or not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29768" y="33832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manage everything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29768" y="378561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scale up/down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154680" y="1737360"/>
            <a:ext cx="2651760" cy="384048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14" name="Text 12"/>
          <p:cNvSpPr/>
          <p:nvPr/>
        </p:nvSpPr>
        <p:spPr>
          <a:xfrm>
            <a:off x="3154680" y="17373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☁️  Cloud (AWS)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154680" y="2121408"/>
            <a:ext cx="265176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64408" y="217627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servers by the hour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264408" y="257860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in minutes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264408" y="2980944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only what you use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264408" y="33832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manages hardware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264408" y="378561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in seconds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989320" y="1737360"/>
            <a:ext cx="2651760" cy="384048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22" name="Text 20"/>
          <p:cNvSpPr/>
          <p:nvPr/>
        </p:nvSpPr>
        <p:spPr>
          <a:xfrm>
            <a:off x="5989320" y="17373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📊  For Data Science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989320" y="2121408"/>
            <a:ext cx="265176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099048" y="217627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ML models on powerful GPUs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099048" y="257860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terabytes cheaply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099048" y="2980944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data in parallel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099048" y="33832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work with team easily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099048" y="378561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standard skill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65760" y="4434840"/>
            <a:ext cx="8412480" cy="548640"/>
          </a:xfrm>
          <a:prstGeom prst="rect">
            <a:avLst/>
          </a:prstGeom>
          <a:solidFill>
            <a:srgbClr val="D6EAF8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48640" y="4462272"/>
            <a:ext cx="8046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AWS has 200+ services. This project uses just 4 of them — and that's enough to build a production-grade pipeline!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 Amazon Kinesis — The Data Highway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713232"/>
          </a:xfrm>
          <a:prstGeom prst="rect">
            <a:avLst/>
          </a:prstGeom>
          <a:solidFill>
            <a:srgbClr val="EBF5FB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4F72"/>
                </a:solidFill>
              </a:rPr>
              <a:t>💡  Think of Kinesis like a highway:  Your Python script is a car (data producer) putting stock prices on the highway. Lambda function is the destination waiting to receive them. The highway (Kinesis) ensures data flows in real-time without loss.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40233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91640"/>
            <a:ext cx="64008" cy="109728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7647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Stream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" y="210312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channel where data flows. Like a topic or a queue. We create one called 'stock-price-stream'.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691640"/>
            <a:ext cx="40233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691640"/>
            <a:ext cx="64008" cy="109728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1" name="Text 9"/>
          <p:cNvSpPr/>
          <p:nvPr/>
        </p:nvSpPr>
        <p:spPr>
          <a:xfrm>
            <a:off x="4828032" y="17647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Records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28032" y="210312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piece of data you send. In our case, one record = one stock price reading with timestamp.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40233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926080"/>
            <a:ext cx="64008" cy="109728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" y="29992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Shard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0352" y="333756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unit of capacity. One shard handles 1,000 records/sec. We only need 1 shard for this project.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2926080"/>
            <a:ext cx="40233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926080"/>
            <a:ext cx="64008" cy="109728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9" name="Text 17"/>
          <p:cNvSpPr/>
          <p:nvPr/>
        </p:nvSpPr>
        <p:spPr>
          <a:xfrm>
            <a:off x="4828032" y="29992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Consumer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28032" y="333756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reads from the stream. Our Lambda function is the consumer — triggered automatically for every batch.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206240"/>
            <a:ext cx="8412480" cy="749808"/>
          </a:xfrm>
          <a:prstGeom prst="rect">
            <a:avLst/>
          </a:prstGeom>
          <a:solidFill>
            <a:srgbClr val="EAFAF1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4233672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8449"/>
                </a:solidFill>
              </a:rPr>
              <a:t>✅  Why not just use a database directly?  Because databases are slow for real-time. Kinesis buffers thousands of records per second and delivers them instantly to Lambda — that's its superpower.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AWS Lambda — The Serverless Worker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713232"/>
          </a:xfrm>
          <a:prstGeom prst="rect">
            <a:avLst/>
          </a:prstGeom>
          <a:solidFill>
            <a:srgbClr val="FEF5E7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7E22"/>
                </a:solidFill>
              </a:rPr>
              <a:t>💡  Think of Lambda like a vending machine:  You don't need to hire a person to stand there all day. You just define what happens when a button is pressed (trigger). AWS runs your code only when needed — you pay nothing when idle.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700784"/>
            <a:ext cx="384048" cy="38404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700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66420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</a:rPr>
              <a:t>Triggered:  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920240" y="1664208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Kinesis sends a batch of 10 stock records to Lambda automatically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121408"/>
            <a:ext cx="0" cy="64008"/>
          </a:xfrm>
          <a:prstGeom prst="line">
            <a:avLst/>
          </a:prstGeom>
          <a:noFill/>
          <a:ln w="12700">
            <a:solidFill>
              <a:srgbClr val="E67E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203704"/>
            <a:ext cx="384048" cy="38404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203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216712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</a:rPr>
              <a:t>Decode:  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920240" y="2167128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Lambda base64-decodes each record and parses JSON data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624328"/>
            <a:ext cx="0" cy="64008"/>
          </a:xfrm>
          <a:prstGeom prst="line">
            <a:avLst/>
          </a:prstGeom>
          <a:noFill/>
          <a:ln w="12700">
            <a:solidFill>
              <a:srgbClr val="E67E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706624"/>
            <a:ext cx="384048" cy="38404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706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2670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</a:rPr>
              <a:t>Analyse:  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20240" y="2670048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Calculates Z-score: how far is this price from recent average?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127248"/>
            <a:ext cx="0" cy="64008"/>
          </a:xfrm>
          <a:prstGeom prst="line">
            <a:avLst/>
          </a:prstGeom>
          <a:noFill/>
          <a:ln w="12700">
            <a:solidFill>
              <a:srgbClr val="E67E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209544"/>
            <a:ext cx="384048" cy="38404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209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317296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</a:rPr>
              <a:t>Classify:  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920240" y="3172968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Labels each record: NORMAL or ANOMALY (spike detected!)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3630168"/>
            <a:ext cx="0" cy="64008"/>
          </a:xfrm>
          <a:prstGeom prst="line">
            <a:avLst/>
          </a:prstGeom>
          <a:noFill/>
          <a:ln w="12700">
            <a:solidFill>
              <a:srgbClr val="E67E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712464"/>
            <a:ext cx="384048" cy="38404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712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68680" y="367588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</a:rPr>
              <a:t>Store:  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920240" y="3675888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Saves result to S3 in the correct folder (normal/ or anomaly/)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65760" y="4315968"/>
            <a:ext cx="8412480" cy="658368"/>
          </a:xfrm>
          <a:prstGeom prst="rect">
            <a:avLst/>
          </a:prstGeom>
          <a:solidFill>
            <a:srgbClr val="FEF5E7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48640" y="4343400"/>
            <a:ext cx="8046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7E22"/>
                </a:solidFill>
              </a:rPr>
              <a:t>🚀  Serverless Benefit:  No server setup. No maintenance. No cost when idle. Lambda runs 1M requests/month FREE on AWS Free Tier — perfect for this project!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Amazon S3 — The Infinite Storage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713232"/>
          </a:xfrm>
          <a:prstGeom prst="rect">
            <a:avLst/>
          </a:prstGeom>
          <a:solidFill>
            <a:srgbClr val="F4ECF7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3483"/>
                </a:solidFill>
              </a:rPr>
              <a:t>💡  Think of S3 like Google Drive for developers:  You can store any file (JSON, CSV, images, models). It's infinitely scalable, extremely cheap, and almost every AWS service connects to it.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66420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How Our S3 Bucket is Organised: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057400"/>
            <a:ext cx="493776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212140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34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📦  stock-pipeline-yourname/  (Bucket)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95528" y="242316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processed/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88136" y="272491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8F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📂  normal/  →  Regular stock prices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380744" y="3026664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17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 AAPL_102301.json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88136" y="3328416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📂  anomaly/  →  Price spikes detected!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380744" y="363016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17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 AAPL_152245.json  ← Lambda flagged this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95528" y="393192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4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athena-results/  →  SQL query outputs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0" y="1709928"/>
            <a:ext cx="32461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577840" y="1755648"/>
            <a:ext cx="411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💸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035040" y="174650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3483"/>
                </a:solidFill>
              </a:rPr>
              <a:t>Dirt Cheap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35040" y="19842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D7E"/>
                </a:solidFill>
              </a:rPr>
              <a:t>~₹2 per GB per month. Our project uses &lt; 10MB = nearly free.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0" y="2377440"/>
            <a:ext cx="32461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577840" y="2423160"/>
            <a:ext cx="411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♾️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035040" y="241401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3483"/>
                </a:solidFill>
              </a:rPr>
              <a:t>Infinite Scale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35040" y="2651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D7E"/>
                </a:solidFill>
              </a:rPr>
              <a:t>Stores from 1 file to billions. Netflix stores petabytes in S3.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0" y="3044952"/>
            <a:ext cx="32461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577840" y="3090672"/>
            <a:ext cx="411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035040" y="30815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3483"/>
                </a:solidFill>
              </a:rPr>
              <a:t>Durable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035040" y="33192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D7E"/>
                </a:solidFill>
              </a:rPr>
              <a:t>99.999999999% durability. Your data won't disappear.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0" y="3712464"/>
            <a:ext cx="32461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577840" y="3758184"/>
            <a:ext cx="411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🔌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035040" y="37490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3483"/>
                </a:solidFill>
              </a:rPr>
              <a:t>Connects Everything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035040" y="398678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D7E"/>
                </a:solidFill>
              </a:rPr>
              <a:t>Athena, Glue, SageMaker all read directly from S3.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Amazon Athena — SQL on Your Data Lake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713232"/>
          </a:xfrm>
          <a:prstGeom prst="rect">
            <a:avLst/>
          </a:prstGeom>
          <a:solidFill>
            <a:srgbClr val="EAFAF1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8449"/>
                </a:solidFill>
              </a:rPr>
              <a:t>💡  Think of Athena like Excel's filter, but for millions of rows:  Your data sits in S3 as JSON files. Athena lets you run SQL queries on those files directly — no database needed, no data movement.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6642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Example Query You'll Run: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0"/>
            <a:ext cx="5029200" cy="1691640"/>
          </a:xfrm>
          <a:prstGeom prst="rect">
            <a:avLst/>
          </a:prstGeom>
          <a:solidFill>
            <a:srgbClr val="1E2761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084832"/>
            <a:ext cx="4663440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symbol, price, zscore, timestamp
</a:t>
            </a:r>
            <a:pPr indent="0" marL="0">
              <a:buNone/>
            </a:pPr>
            <a:r>
              <a:rPr lang="en-US" sz="13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stock_prices
</a:t>
            </a:r>
            <a:pPr indent="0" marL="0">
              <a:buNone/>
            </a:pPr>
            <a:r>
              <a:rPr lang="en-US" sz="13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is_anomaly = </a:t>
            </a:r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
</a:t>
            </a:r>
            <a:pPr indent="0" marL="0">
              <a:buNone/>
            </a:pPr>
            <a:r>
              <a:rPr lang="en-US" sz="13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ABS(zscore)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7673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Result (Anomalies Found):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114800"/>
          <a:ext cx="4937760" cy="86868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2171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symbol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8F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8F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8F77"/>
                    </a:solidFill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AAPL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$193.44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AAPL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$189.12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AAPL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$191.76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577840" y="1664208"/>
            <a:ext cx="3154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669280" y="173736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144768" y="1719072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Pay per query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144768" y="1984248"/>
            <a:ext cx="24871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D7E"/>
                </a:solidFill>
              </a:rPr>
              <a:t>$5 per TB scanned. Our project scans &lt; 1MB = $0.00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577840" y="2414016"/>
            <a:ext cx="3154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669280" y="248716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🚫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144768" y="2468880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No database needed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144768" y="2734056"/>
            <a:ext cx="24871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D7E"/>
                </a:solidFill>
              </a:rPr>
              <a:t>Your JSON files in S3 become queryable tables instantly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577840" y="3163824"/>
            <a:ext cx="3154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669280" y="3236976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6144768" y="321868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Standard SQL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144768" y="3483864"/>
            <a:ext cx="24871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D7E"/>
                </a:solidFill>
              </a:rPr>
              <a:t>If you know SELECT, WHERE, GROUP BY — you can use Athena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577840" y="3913632"/>
            <a:ext cx="3154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669280" y="3986784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6144768" y="3968496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Connects to BI tools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144768" y="4233672"/>
            <a:ext cx="24871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D7E"/>
                </a:solidFill>
              </a:rPr>
              <a:t>Link Athena to Power BI, Tableau, or QuickSight for charts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Z-Score — The Data Science Brain of This Project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658368"/>
          </a:xfrm>
          <a:prstGeom prst="rect">
            <a:avLst/>
          </a:prstGeom>
          <a:solidFill>
            <a:srgbClr val="FEF9E7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6608"/>
                </a:solidFill>
              </a:rPr>
              <a:t>💡  This is the ML/Stats logic inside Lambda:  We don't use a complex model. Z-score is a simple, powerful way to detect when something is unusually far from normal — exactly what you'd use in a real monitoring system.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60934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The Formula: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938528"/>
            <a:ext cx="4114800" cy="749808"/>
          </a:xfrm>
          <a:prstGeom prst="rect">
            <a:avLst/>
          </a:prstGeom>
          <a:solidFill>
            <a:srgbClr val="1E2761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993392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 =  ( price − mean ) ÷ std_deviation</a:t>
            </a:r>
            <a:endParaRPr lang="en-US" sz="1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743200"/>
          <a:ext cx="4114800" cy="210312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</a:tblGrid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C1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of last 20 prices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e.g. ₹175.00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std_dev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much prices normally vary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e.g. ₹2.50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 = 0.5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is close to normal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Normal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 = 2.5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is 2.5× further than usual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🚨  Anomaly!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 = -3.1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Sudden crash detected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🚨  Anomaly!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846320" y="160934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Visual Intuition: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754880" y="1938528"/>
            <a:ext cx="39319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846320" y="19659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8F77"/>
                </a:solidFill>
              </a:rPr>
              <a:t>Normal Zone  |Z| &lt; 2.0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937760" y="2331720"/>
            <a:ext cx="3566160" cy="411480"/>
          </a:xfrm>
          <a:prstGeom prst="rect">
            <a:avLst/>
          </a:prstGeom>
          <a:solidFill>
            <a:srgbClr val="D5F5E3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37760" y="23317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8F77"/>
                </a:solidFill>
              </a:rPr>
              <a:t>← Normal prices fall here →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54880" y="3017520"/>
            <a:ext cx="39319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846320" y="304495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🚨  Anomaly  |Z| &gt; 2.0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937760" y="3401568"/>
            <a:ext cx="1371600" cy="384048"/>
          </a:xfrm>
          <a:prstGeom prst="rect">
            <a:avLst/>
          </a:prstGeom>
          <a:solidFill>
            <a:srgbClr val="FADBD8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37760" y="34015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392B"/>
                </a:solidFill>
              </a:rPr>
              <a:t>Low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92240" y="3401568"/>
            <a:ext cx="1371600" cy="384048"/>
          </a:xfrm>
          <a:prstGeom prst="rect">
            <a:avLst/>
          </a:prstGeom>
          <a:solidFill>
            <a:srgbClr val="FADBD8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92240" y="34015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392B"/>
                </a:solidFill>
              </a:rPr>
              <a:t>High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754880" y="4041648"/>
            <a:ext cx="3931920" cy="804672"/>
          </a:xfrm>
          <a:prstGeom prst="rect">
            <a:avLst/>
          </a:prstGeom>
          <a:solidFill>
            <a:srgbClr val="EBF5FB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892040" y="4078224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4F72"/>
                </a:solidFill>
              </a:rPr>
              <a:t>Our Lambda checks every price. If Z &gt; 2.0, it saves the record in the anomaly/ folder in S3 and prints a warning in CloudWatch logs.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Day 1 Plan — Build the Pipeline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868680"/>
            <a:ext cx="4160520" cy="384048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4" name="Text 2"/>
          <p:cNvSpPr/>
          <p:nvPr/>
        </p:nvSpPr>
        <p:spPr>
          <a:xfrm>
            <a:off x="429768" y="8686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Hour 1  |  AWS Account &amp; Setup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52728"/>
            <a:ext cx="416052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29768" y="132588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8F77"/>
                </a:solidFill>
              </a:rPr>
              <a:t>1.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</a:rPr>
              <a:t>Create a free AWS account at aws.amazon.com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29768" y="167335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8F77"/>
                </a:solidFill>
              </a:rPr>
              <a:t>2.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</a:rPr>
              <a:t>Set up AWS CLI: pip install awscli → aws configure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29768" y="2020824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8F77"/>
                </a:solidFill>
              </a:rPr>
              <a:t>3.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</a:rPr>
              <a:t>Enter your Access Key ID and Secret (from IAM console)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29768" y="2368296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8F77"/>
                </a:solidFill>
              </a:rPr>
              <a:t>4.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</a:rPr>
              <a:t>Verify: aws s3 ls  (should run without error)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27448" y="868680"/>
            <a:ext cx="4160520" cy="384048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1" name="Text 9"/>
          <p:cNvSpPr/>
          <p:nvPr/>
        </p:nvSpPr>
        <p:spPr>
          <a:xfrm>
            <a:off x="4837176" y="8686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Hour 2  |  Create S3 + Kinesis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27448" y="1252728"/>
            <a:ext cx="416052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37176" y="132588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86C1"/>
                </a:solidFill>
              </a:rPr>
              <a:t>1.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</a:rPr>
              <a:t>S3: Console → Create bucket → name it 'stock-pipeline-yourname'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37176" y="167335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86C1"/>
                </a:solidFill>
              </a:rPr>
              <a:t>2.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</a:rPr>
              <a:t>Kinesis: Console → Create data stream → name 'stock-price-stream'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37176" y="2020824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86C1"/>
                </a:solidFill>
              </a:rPr>
              <a:t>3.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</a:rPr>
              <a:t>Capacity mode: On-demand (free tier friendly)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37176" y="2368296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86C1"/>
                </a:solidFill>
              </a:rPr>
              <a:t>4.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</a:rPr>
              <a:t>Both should show as ACTIVE in green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" y="2898648"/>
            <a:ext cx="4160520" cy="38404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8" name="Text 16"/>
          <p:cNvSpPr/>
          <p:nvPr/>
        </p:nvSpPr>
        <p:spPr>
          <a:xfrm>
            <a:off x="429768" y="289864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Hour 3  |  Create Lambda Function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" y="3282696"/>
            <a:ext cx="416052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29768" y="335584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7E22"/>
                </a:solidFill>
              </a:rPr>
              <a:t>1.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</a:rPr>
              <a:t>Lambda: Console → Create function → Author from scratch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29768" y="370332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7E22"/>
                </a:solidFill>
              </a:rPr>
              <a:t>2.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</a:rPr>
              <a:t>Name: StockAnomalyDetector  |  Runtime: Python 3.12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29768" y="405079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7E22"/>
                </a:solidFill>
              </a:rPr>
              <a:t>3.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</a:rPr>
              <a:t>Paste lambda_function.py code → Deploy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29768" y="4398264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7E22"/>
                </a:solidFill>
              </a:rPr>
              <a:t>4.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</a:rPr>
              <a:t>Add env variables: S3_BUCKET and ZSCORE_THRESHOLD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27448" y="2898648"/>
            <a:ext cx="4160520" cy="384048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25" name="Text 23"/>
          <p:cNvSpPr/>
          <p:nvPr/>
        </p:nvSpPr>
        <p:spPr>
          <a:xfrm>
            <a:off x="4837176" y="289864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Hour 4  |  Connect &amp; Test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27448" y="3282696"/>
            <a:ext cx="416052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37176" y="335584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3483"/>
                </a:solidFill>
              </a:rPr>
              <a:t>1.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</a:rPr>
              <a:t>Add IAM roles: S3FullAccess + KinesisReadOnlyAccess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837176" y="370332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3483"/>
                </a:solidFill>
              </a:rPr>
              <a:t>2.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</a:rPr>
              <a:t>Add trigger: Kinesis → stock-price-stream → batch 10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837176" y="405079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3483"/>
                </a:solidFill>
              </a:rPr>
              <a:t>3.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</a:rPr>
              <a:t>Run producer.py locally — watch the terminal output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837176" y="4398264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3483"/>
                </a:solidFill>
              </a:rPr>
              <a:t>4.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</a:rPr>
              <a:t>Check S3 bucket — normal/ and anomaly/ folders appear!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Day 2 Plan — Query, Polish &amp; Publish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868680"/>
            <a:ext cx="4160520" cy="384048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4" name="Text 2"/>
          <p:cNvSpPr/>
          <p:nvPr/>
        </p:nvSpPr>
        <p:spPr>
          <a:xfrm>
            <a:off x="429768" y="8686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Hour 1  |  Set Up Athena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52728"/>
            <a:ext cx="416052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29768" y="132588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8449"/>
                </a:solidFill>
              </a:rPr>
              <a:t>1.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</a:rPr>
              <a:t>Athena Console → Query editor → Settings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29768" y="167335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8449"/>
                </a:solidFill>
              </a:rPr>
              <a:t>2.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</a:rPr>
              <a:t>Set result location: s3://stock-pipeline-yourname/athena-results/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29768" y="2020824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8449"/>
                </a:solidFill>
              </a:rPr>
              <a:t>3.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</a:rPr>
              <a:t>Run CREATE TABLE query from athena_queries.sql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29768" y="2368296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8449"/>
                </a:solidFill>
              </a:rPr>
              <a:t>4.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</a:rPr>
              <a:t>Run SELECT * → confirm rows appear!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27448" y="868680"/>
            <a:ext cx="4160520" cy="384048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11" name="Text 9"/>
          <p:cNvSpPr/>
          <p:nvPr/>
        </p:nvSpPr>
        <p:spPr>
          <a:xfrm>
            <a:off x="4837176" y="8686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Hour 2  |  Analyse Your Data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27448" y="1252728"/>
            <a:ext cx="416052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37176" y="132588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8F77"/>
                </a:solidFill>
              </a:rPr>
              <a:t>1.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</a:rPr>
              <a:t>Run anomaly query: WHERE is_anomaly = true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37176" y="167335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8F77"/>
                </a:solidFill>
              </a:rPr>
              <a:t>2.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</a:rPr>
              <a:t>Run stats query: AVG, MIN, MAX, COUNT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37176" y="2020824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8F77"/>
                </a:solidFill>
              </a:rPr>
              <a:t>3.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</a:rPr>
              <a:t>Screenshot your results — this goes in your README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37176" y="2368296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8F77"/>
                </a:solidFill>
              </a:rPr>
              <a:t>4.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</a:rPr>
              <a:t>Note how many anomalies were caught (~5% of records)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" y="2898648"/>
            <a:ext cx="4160520" cy="384048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8" name="Text 16"/>
          <p:cNvSpPr/>
          <p:nvPr/>
        </p:nvSpPr>
        <p:spPr>
          <a:xfrm>
            <a:off x="429768" y="289864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Hour 3  |  Write the README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" y="3282696"/>
            <a:ext cx="416052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29768" y="335584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86C1"/>
                </a:solidFill>
              </a:rPr>
              <a:t>1.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</a:rPr>
              <a:t>Use the provided README.md as your base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29768" y="370332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86C1"/>
                </a:solidFill>
              </a:rPr>
              <a:t>2.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</a:rPr>
              <a:t>Add your own screenshots of S3, Lambda, Athena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29768" y="405079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86C1"/>
                </a:solidFill>
              </a:rPr>
              <a:t>3.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</a:rPr>
              <a:t>Write the architecture diagram section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29768" y="4398264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86C1"/>
                </a:solidFill>
              </a:rPr>
              <a:t>4.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</a:rPr>
              <a:t>Add your resume bullet point at the bottom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27448" y="2898648"/>
            <a:ext cx="4160520" cy="384048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25" name="Text 23"/>
          <p:cNvSpPr/>
          <p:nvPr/>
        </p:nvSpPr>
        <p:spPr>
          <a:xfrm>
            <a:off x="4837176" y="289864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Hour 4  |  Push to GitHub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27448" y="3282696"/>
            <a:ext cx="416052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37176" y="335584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3483"/>
                </a:solidFill>
              </a:rPr>
              <a:t>1.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</a:rPr>
              <a:t>Create a new GitHub repo: 'aws-stock-pipeline'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837176" y="370332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3483"/>
                </a:solidFill>
              </a:rPr>
              <a:t>2.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</a:rPr>
              <a:t>git init → git add . → git commit -m 'Initial commit'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837176" y="405079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3483"/>
                </a:solidFill>
              </a:rPr>
              <a:t>3.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</a:rPr>
              <a:t>git push origin main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837176" y="4398264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3483"/>
                </a:solidFill>
              </a:rPr>
              <a:t>4. 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</a:rPr>
              <a:t>Pin the repo on your GitHub profile — done! 🎉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What This Project Gives Your Resume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8412480" cy="841248"/>
          </a:xfrm>
          <a:prstGeom prst="rect">
            <a:avLst/>
          </a:prstGeom>
          <a:solidFill>
            <a:srgbClr val="1B4F72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ED6F1"/>
                </a:solidFill>
              </a:rPr>
              <a:t>Your Resume Bullet: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17043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"Built a serverless real-time pipeline on AWS (Kinesis, Lambda, S3, Athena) to ingest and process streaming stock data with Z-score anomaly detection, flagging price spikes at ~5% rate across 300+ records."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8470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ED6F1"/>
                </a:solidFill>
              </a:rPr>
              <a:t>Skills You'll Have Learned: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0040" y="2267712"/>
            <a:ext cx="2011680" cy="804672"/>
          </a:xfrm>
          <a:prstGeom prst="rect">
            <a:avLst/>
          </a:prstGeom>
          <a:solidFill>
            <a:srgbClr val="0D3B5E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232257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Cloud Architecture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6700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D6F1"/>
                </a:solidFill>
              </a:rPr>
              <a:t>Design &amp; connect AWS services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96312" y="2267712"/>
            <a:ext cx="2011680" cy="804672"/>
          </a:xfrm>
          <a:prstGeom prst="rect">
            <a:avLst/>
          </a:prstGeom>
          <a:solidFill>
            <a:srgbClr val="0D3B5E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87752" y="232257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Streaming Data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87752" y="26700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D6F1"/>
                </a:solidFill>
              </a:rPr>
              <a:t>Real-time vs batch processing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72584" y="2267712"/>
            <a:ext cx="2011680" cy="804672"/>
          </a:xfrm>
          <a:prstGeom prst="rect">
            <a:avLst/>
          </a:prstGeom>
          <a:solidFill>
            <a:srgbClr val="0D3B5E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64024" y="232257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Serverless Computing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64024" y="26700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D6F1"/>
                </a:solidFill>
              </a:rPr>
              <a:t>Event-driven Lambda functions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48856" y="2267712"/>
            <a:ext cx="2011680" cy="804672"/>
          </a:xfrm>
          <a:prstGeom prst="rect">
            <a:avLst/>
          </a:prstGeom>
          <a:solidFill>
            <a:srgbClr val="0D3B5E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40296" y="232257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Data Lake Design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40296" y="26700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D6F1"/>
                </a:solidFill>
              </a:rPr>
              <a:t>S3 partitioning strategies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182112"/>
            <a:ext cx="2011680" cy="804672"/>
          </a:xfrm>
          <a:prstGeom prst="rect">
            <a:avLst/>
          </a:prstGeom>
          <a:solidFill>
            <a:srgbClr val="0D3B5E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1480" y="323697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Statistical ML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" y="35844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D6F1"/>
                </a:solidFill>
              </a:rPr>
              <a:t>Z-score anomaly detection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496312" y="3182112"/>
            <a:ext cx="2011680" cy="804672"/>
          </a:xfrm>
          <a:prstGeom prst="rect">
            <a:avLst/>
          </a:prstGeom>
          <a:solidFill>
            <a:srgbClr val="0D3B5E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587752" y="323697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SQL Analytics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587752" y="35844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D6F1"/>
                </a:solidFill>
              </a:rPr>
              <a:t>Athena queries on JSON data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72584" y="3182112"/>
            <a:ext cx="2011680" cy="804672"/>
          </a:xfrm>
          <a:prstGeom prst="rect">
            <a:avLst/>
          </a:prstGeom>
          <a:solidFill>
            <a:srgbClr val="0D3B5E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64024" y="323697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Python + boto3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64024" y="35844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D6F1"/>
                </a:solidFill>
              </a:rPr>
              <a:t>AWS SDK for Python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848856" y="3182112"/>
            <a:ext cx="2011680" cy="804672"/>
          </a:xfrm>
          <a:prstGeom prst="rect">
            <a:avLst/>
          </a:prstGeom>
          <a:solidFill>
            <a:srgbClr val="0D3B5E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940296" y="323697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IAM &amp; Security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40296" y="35844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D6F1"/>
                </a:solidFill>
              </a:rPr>
              <a:t>Roles, policies, permissions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65760" y="4160520"/>
            <a:ext cx="4023360" cy="749808"/>
          </a:xfrm>
          <a:prstGeom prst="rect">
            <a:avLst/>
          </a:prstGeom>
          <a:solidFill>
            <a:srgbClr val="0D3B5E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41879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C1"/>
                </a:solidFill>
              </a:rPr>
              <a:t>💰  Total Project Cost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4443984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~$0–2  using AWS Free Tier  🎉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754880" y="4160520"/>
            <a:ext cx="4023360" cy="749808"/>
          </a:xfrm>
          <a:prstGeom prst="rect">
            <a:avLst/>
          </a:prstGeom>
          <a:solidFill>
            <a:srgbClr val="0D3B5E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937760" y="41879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C1"/>
                </a:solidFill>
              </a:rPr>
              <a:t>⏱️  Time to Complete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937760" y="4443984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~8 hours  across 2 days  ✅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AWS Data Pipeline</dc:title>
  <dc:subject>PptxGenJS Presentation</dc:subject>
  <dc:creator>PptxGenJS</dc:creator>
  <cp:lastModifiedBy>PptxGenJS</cp:lastModifiedBy>
  <cp:revision>1</cp:revision>
  <dcterms:created xsi:type="dcterms:W3CDTF">2026-04-28T10:42:55Z</dcterms:created>
  <dcterms:modified xsi:type="dcterms:W3CDTF">2026-04-28T10:42:55Z</dcterms:modified>
</cp:coreProperties>
</file>